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OUR THESIS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0" y="2560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skills are not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ratio of correct answers.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0" y="822960"/>
            <a:ext cx="3246120" cy="4000500"/>
          </a:xfrm>
          <a:prstGeom prst="roundRect">
            <a:avLst>
              <a:gd name="adj" fmla="val 2817"/>
            </a:avLst>
          </a:prstGeom>
          <a:solidFill>
            <a:srgbClr val="151922"/>
          </a:solidFill>
          <a:ln w="15875">
            <a:solidFill>
              <a:srgbClr val="3A425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789420" y="2823210"/>
            <a:ext cx="640080" cy="0"/>
          </a:xfrm>
          <a:prstGeom prst="line">
            <a:avLst/>
          </a:prstGeom>
          <a:noFill/>
          <a:ln w="15875">
            <a:solidFill>
              <a:srgbClr val="5C65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09460" y="2503170"/>
            <a:ext cx="0" cy="640080"/>
          </a:xfrm>
          <a:prstGeom prst="line">
            <a:avLst/>
          </a:prstGeom>
          <a:noFill/>
          <a:ln w="15875">
            <a:solidFill>
              <a:srgbClr val="5C65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323469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 config / proximity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0058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C6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965960"/>
            <a:ext cx="4818888" cy="868680"/>
          </a:xfrm>
          <a:prstGeom prst="roundRect">
            <a:avLst>
              <a:gd name="adj" fmla="val 8421"/>
            </a:avLst>
          </a:prstGeom>
          <a:solidFill>
            <a:srgbClr val="181C26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965960"/>
            <a:ext cx="73152" cy="868680"/>
          </a:xfrm>
          <a:prstGeom prst="rect">
            <a:avLst/>
          </a:prstGeom>
          <a:solidFill>
            <a:srgbClr val="7C9CFF"/>
          </a:solidFill>
          <a:ln w="12700">
            <a:solidFill>
              <a:srgbClr val="7C9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084832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sample thin outputs. Real competence is proximity to a useful cognitive configuration — retrievable, applicable, transformable under pressure.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017520"/>
            <a:ext cx="2336292" cy="1600200"/>
          </a:xfrm>
          <a:prstGeom prst="roundRect">
            <a:avLst>
              <a:gd name="adj" fmla="val 4571"/>
            </a:avLst>
          </a:prstGeom>
          <a:solidFill>
            <a:srgbClr val="181C26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21868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7C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 CONFIG 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" y="3611880"/>
            <a:ext cx="20071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representation of knowledge that extends beyond one's brain to the tools we rely on as well — not a scoreboard of right/wrong items.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894076" y="3017520"/>
            <a:ext cx="2336292" cy="1600200"/>
          </a:xfrm>
          <a:prstGeom prst="roundRect">
            <a:avLst>
              <a:gd name="adj" fmla="val 4571"/>
            </a:avLst>
          </a:prstGeom>
          <a:solidFill>
            <a:srgbClr val="181C26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58668" y="321868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7C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PROXIMITY, NOT 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58668" y="3611880"/>
            <a:ext cx="20071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model that measures distance to a learning model — a cognitive target — not pass-rate.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HOW WE TEST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0" y="2560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4818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that make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measurable.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0" y="822960"/>
            <a:ext cx="3246120" cy="4000500"/>
          </a:xfrm>
          <a:prstGeom prst="roundRect">
            <a:avLst>
              <a:gd name="adj" fmla="val 2817"/>
            </a:avLst>
          </a:prstGeom>
          <a:solidFill>
            <a:srgbClr val="151922"/>
          </a:solidFill>
          <a:ln w="15875">
            <a:solidFill>
              <a:srgbClr val="3A425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789420" y="2823210"/>
            <a:ext cx="640080" cy="0"/>
          </a:xfrm>
          <a:prstGeom prst="line">
            <a:avLst/>
          </a:prstGeom>
          <a:noFill/>
          <a:ln w="15875">
            <a:solidFill>
              <a:srgbClr val="5C65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09460" y="2503170"/>
            <a:ext cx="0" cy="640080"/>
          </a:xfrm>
          <a:prstGeom prst="line">
            <a:avLst/>
          </a:prstGeom>
          <a:noFill/>
          <a:ln w="15875">
            <a:solidFill>
              <a:srgbClr val="5C65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323469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 + cognition layers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0058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C6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417320"/>
            <a:ext cx="4818888" cy="1417320"/>
          </a:xfrm>
          <a:prstGeom prst="roundRect">
            <a:avLst>
              <a:gd name="adj" fmla="val 5161"/>
            </a:avLst>
          </a:prstGeom>
          <a:solidFill>
            <a:srgbClr val="181C26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188823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C2130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8882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1618488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1984248"/>
            <a:ext cx="37673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layer. Artifacts, tool traces, and think-aloud — evidence of work, not a multiple-choice snapshot.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017520"/>
            <a:ext cx="4818888" cy="1417320"/>
          </a:xfrm>
          <a:prstGeom prst="roundRect">
            <a:avLst>
              <a:gd name="adj" fmla="val 5161"/>
            </a:avLst>
          </a:prstGeom>
          <a:solidFill>
            <a:srgbClr val="181C26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" y="348843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C2130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4884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C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3218688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Human Cognition Analysis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34440" y="3584448"/>
            <a:ext cx="37673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linearity analysis. How we capture thought is decisive — Selective Thought Interface.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HOW WE TEST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0" y="2560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4818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layer: probe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mid-reasoning.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0" y="822960"/>
            <a:ext cx="3246120" cy="4000500"/>
          </a:xfrm>
          <a:prstGeom prst="roundRect">
            <a:avLst>
              <a:gd name="adj" fmla="val 2817"/>
            </a:avLst>
          </a:prstGeom>
          <a:solidFill>
            <a:srgbClr val="151922"/>
          </a:solidFill>
          <a:ln w="15875">
            <a:solidFill>
              <a:srgbClr val="3A425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789420" y="2823210"/>
            <a:ext cx="640080" cy="0"/>
          </a:xfrm>
          <a:prstGeom prst="line">
            <a:avLst/>
          </a:prstGeom>
          <a:noFill/>
          <a:ln w="15875">
            <a:solidFill>
              <a:srgbClr val="5C65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09460" y="2503170"/>
            <a:ext cx="0" cy="640080"/>
          </a:xfrm>
          <a:prstGeom prst="line">
            <a:avLst/>
          </a:prstGeom>
          <a:noFill/>
          <a:ln w="15875">
            <a:solidFill>
              <a:srgbClr val="5C65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323469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interruptions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0058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C6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417320"/>
            <a:ext cx="4818888" cy="1691640"/>
          </a:xfrm>
          <a:prstGeom prst="roundRect">
            <a:avLst>
              <a:gd name="adj" fmla="val 4324"/>
            </a:avLst>
          </a:prstGeom>
          <a:solidFill>
            <a:srgbClr val="181C26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20253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C2130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0253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1618488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Model · Trace Interruptions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1984248"/>
            <a:ext cx="37673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World-model style. Trace interruptions probe gaps mid-reasoning — and measure how interruption changes learning effectiveness.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291840"/>
            <a:ext cx="2336292" cy="1325880"/>
          </a:xfrm>
          <a:prstGeom prst="roundRect">
            <a:avLst>
              <a:gd name="adj" fmla="val 5517"/>
            </a:avLst>
          </a:prstGeom>
          <a:solidFill>
            <a:srgbClr val="181C26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493008"/>
            <a:ext cx="200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E8B8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 GAPS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" y="3822192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at decision points to surface missing knowledge while reasoning is still live.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94076" y="3291840"/>
            <a:ext cx="2336292" cy="1325880"/>
          </a:xfrm>
          <a:prstGeom prst="roundRect">
            <a:avLst>
              <a:gd name="adj" fmla="val 5517"/>
            </a:avLst>
          </a:prstGeom>
          <a:solidFill>
            <a:srgbClr val="181C26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58668" y="3493008"/>
            <a:ext cx="200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E8B8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 EFFECT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58668" y="3822192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interruptions shift learning effectiveness — not just whether the final answer was right.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PRODUCTIZED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0" y="2560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4818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surfaces in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 primitives.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0" y="822960"/>
            <a:ext cx="3246120" cy="4000500"/>
          </a:xfrm>
          <a:prstGeom prst="roundRect">
            <a:avLst>
              <a:gd name="adj" fmla="val 2817"/>
            </a:avLst>
          </a:prstGeom>
          <a:solidFill>
            <a:srgbClr val="151922"/>
          </a:solidFill>
          <a:ln w="15875">
            <a:solidFill>
              <a:srgbClr val="3A425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789420" y="2823210"/>
            <a:ext cx="640080" cy="0"/>
          </a:xfrm>
          <a:prstGeom prst="line">
            <a:avLst/>
          </a:prstGeom>
          <a:noFill/>
          <a:ln w="15875">
            <a:solidFill>
              <a:srgbClr val="5C65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09460" y="2503170"/>
            <a:ext cx="0" cy="640080"/>
          </a:xfrm>
          <a:prstGeom prst="line">
            <a:avLst/>
          </a:prstGeom>
          <a:noFill/>
          <a:ln w="15875">
            <a:solidFill>
              <a:srgbClr val="5C65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323469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 / interaction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0058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C6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417320"/>
            <a:ext cx="4818888" cy="1554480"/>
          </a:xfrm>
          <a:prstGeom prst="roundRect">
            <a:avLst>
              <a:gd name="adj" fmla="val 4706"/>
            </a:avLst>
          </a:prstGeom>
          <a:solidFill>
            <a:srgbClr val="181C26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554480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OF 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" y="1828800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Submit–Stash interaction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" y="2212848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answers continuously. Learner (or agent) signals submit or stash — scoring attaches to intent, not just final paste.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154680"/>
            <a:ext cx="4818888" cy="1554480"/>
          </a:xfrm>
          <a:prstGeom prst="roundRect">
            <a:avLst>
              <a:gd name="adj" fmla="val 4706"/>
            </a:avLst>
          </a:prstGeom>
          <a:solidFill>
            <a:srgbClr val="181C26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291840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C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SELECTIVE THOUGHT INTERFACE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" y="3566160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inside TAP &amp; ILE tools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648" y="3950208"/>
            <a:ext cx="4416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method is the product. Thought UI lives inside Think Aloud Protocol and Integrated Learning Environment tool surfaces — not a bolt-on form.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HOW THEY'RE USED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0" y="2560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4818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product is for.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0" y="822960"/>
            <a:ext cx="3246120" cy="4000500"/>
          </a:xfrm>
          <a:prstGeom prst="roundRect">
            <a:avLst>
              <a:gd name="adj" fmla="val 2817"/>
            </a:avLst>
          </a:prstGeom>
          <a:solidFill>
            <a:srgbClr val="151922"/>
          </a:solidFill>
          <a:ln w="15875">
            <a:solidFill>
              <a:srgbClr val="3A425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789420" y="2823210"/>
            <a:ext cx="640080" cy="0"/>
          </a:xfrm>
          <a:prstGeom prst="line">
            <a:avLst/>
          </a:prstGeom>
          <a:noFill/>
          <a:ln w="15875">
            <a:solidFill>
              <a:srgbClr val="5C65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09460" y="2503170"/>
            <a:ext cx="0" cy="640080"/>
          </a:xfrm>
          <a:prstGeom prst="line">
            <a:avLst/>
          </a:prstGeom>
          <a:noFill/>
          <a:ln w="15875">
            <a:solidFill>
              <a:srgbClr val="5C65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323469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 map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0058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C6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234440"/>
            <a:ext cx="4818888" cy="1051560"/>
          </a:xfrm>
          <a:prstGeom prst="roundRect">
            <a:avLst>
              <a:gd name="adj" fmla="val 6957"/>
            </a:avLst>
          </a:prstGeom>
          <a:solidFill>
            <a:srgbClr val="181C26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234440"/>
            <a:ext cx="64008" cy="1051560"/>
          </a:xfrm>
          <a:prstGeom prst="rect">
            <a:avLst/>
          </a:prstGeom>
          <a:solidFill>
            <a:srgbClr val="7C9CFF"/>
          </a:solidFill>
          <a:ln w="12700">
            <a:solidFill>
              <a:srgbClr val="7C9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1362456"/>
            <a:ext cx="640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1344168"/>
            <a:ext cx="37216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Screen hires on real work, not résumés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Gate certifications on proof, not quizzes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Stop weak agent or CI output before it ships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395728"/>
            <a:ext cx="4818888" cy="1051560"/>
          </a:xfrm>
          <a:prstGeom prst="roundRect">
            <a:avLst>
              <a:gd name="adj" fmla="val 6957"/>
            </a:avLst>
          </a:prstGeom>
          <a:solidFill>
            <a:srgbClr val="181C26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395728"/>
            <a:ext cx="64008" cy="1051560"/>
          </a:xfrm>
          <a:prstGeom prst="rect">
            <a:avLst/>
          </a:prstGeom>
          <a:solidFill>
            <a:srgbClr val="6BCB9A"/>
          </a:solidFill>
          <a:ln w="12700">
            <a:solidFill>
              <a:srgbClr val="6BC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523744"/>
            <a:ext cx="640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C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2505456"/>
            <a:ext cx="37216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Run live think-aloud interviews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Capture how experts actually solve problems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Verify remote work was done by a human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557016"/>
            <a:ext cx="4818888" cy="1051560"/>
          </a:xfrm>
          <a:prstGeom prst="roundRect">
            <a:avLst>
              <a:gd name="adj" fmla="val 6957"/>
            </a:avLst>
          </a:prstGeom>
          <a:solidFill>
            <a:srgbClr val="181C26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557016"/>
            <a:ext cx="64008" cy="105156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3685032"/>
            <a:ext cx="640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666744"/>
            <a:ext cx="37216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Replace take-homes with coached practice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Close skill gaps found after assessment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Onboard teams with real job scenarios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Pitch — Learning World Model</dc:title>
  <dc:subject>Thesis, method, productization, integrations</dc:subject>
  <dc:creator>Uncertain Systems</dc:creator>
  <cp:lastModifiedBy>Uncertain Systems</cp:lastModifiedBy>
  <cp:revision>1</cp:revision>
  <dcterms:created xsi:type="dcterms:W3CDTF">2026-07-18T23:33:05Z</dcterms:created>
  <dcterms:modified xsi:type="dcterms:W3CDTF">2026-07-18T23:33:05Z</dcterms:modified>
</cp:coreProperties>
</file>